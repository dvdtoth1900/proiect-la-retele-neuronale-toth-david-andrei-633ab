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80" r:id="rId6"/>
    <p:sldId id="260" r:id="rId7"/>
    <p:sldId id="264" r:id="rId8"/>
    <p:sldId id="265" r:id="rId9"/>
    <p:sldId id="266" r:id="rId10"/>
    <p:sldId id="293" r:id="rId11"/>
    <p:sldId id="292" r:id="rId12"/>
    <p:sldId id="261" r:id="rId13"/>
    <p:sldId id="272" r:id="rId14"/>
    <p:sldId id="273" r:id="rId15"/>
    <p:sldId id="274" r:id="rId16"/>
    <p:sldId id="275" r:id="rId17"/>
    <p:sldId id="279" r:id="rId18"/>
    <p:sldId id="271" r:id="rId19"/>
    <p:sldId id="281" r:id="rId20"/>
    <p:sldId id="291" r:id="rId21"/>
    <p:sldId id="282" r:id="rId22"/>
    <p:sldId id="283" r:id="rId23"/>
    <p:sldId id="284" r:id="rId24"/>
    <p:sldId id="262" r:id="rId25"/>
    <p:sldId id="287" r:id="rId26"/>
    <p:sldId id="286" r:id="rId27"/>
    <p:sldId id="288" r:id="rId28"/>
    <p:sldId id="289" r:id="rId29"/>
    <p:sldId id="285" r:id="rId30"/>
    <p:sldId id="263" r:id="rId31"/>
    <p:sldId id="29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1" d="100"/>
          <a:sy n="61" d="100"/>
        </p:scale>
        <p:origin x="8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DD27A7-31B3-438B-BF81-D2325D503C9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BD8FDD-9A0D-4B86-A70B-A135EB61B8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960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DF5A5-CBFD-E529-CE38-70154BCD8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E4C3F3-4C6B-B5B0-79EA-E62A8B24D7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4F606-F396-34E0-A264-36EE9AA6F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045D7-3789-4411-80C4-0816C9866530}" type="datetime1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86122-04A5-25DD-8A46-A70268F7A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8B688-9255-6050-F098-C27CF434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338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062AB-C2BC-A61A-506D-4FDAB20B1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9894E-FD1F-783F-845F-8E6BA1B8D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C25BC-C998-7F7B-EDD7-071E77A80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41A24-E95C-2B84-4FEB-70CBA8564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0D82D-D56A-CFC8-4B8E-19FE4F423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207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49B71-0E48-48B5-90FE-E42853CFE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5CE2-1270-E6B2-DE7C-881B255CD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BE288-BFC3-9C04-76CD-5EC45D95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D31B2-F4B2-40B8-9BB5-291F9D79F8C4}" type="datetime1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59A73-3649-B7A1-8065-3DB6A09AB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B48DE-1903-3759-681D-09E62A52C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25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C8FB7-E5FA-42DD-3AF8-CB2DF9BE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3B88F-86EC-06FD-38EC-16E9D2E93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4DB0F-4A8B-EA4D-A02B-A8BAEADDE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169-617A-C585-F619-075051560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0BCD0-D565-456B-A475-F018ACBD1232}" type="datetime1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F9C13D-AB29-85FD-F5FF-2971BFCBD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60739E-BA45-23C2-13F6-8B2C6436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383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05996-DAE3-914C-EC78-3AD9CE6D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08E5A-90B6-E9AB-35B2-86D15A9D6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E86E77-68AD-38EA-F58A-A8707A4A9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371528-FFDE-68CB-0623-87A99B9F5B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C00C5C-7002-F520-AA4C-A98815BC36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C83BE2-D7A4-AFE7-4E62-1AA2F2BFA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D1699-D197-4E8E-94C8-20C101D96626}" type="datetime1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0EF942-0BE0-652C-8FC5-E4E317FE4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833606-0277-5954-7B9E-F3464FFB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96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3457C-4E4B-BD58-7520-D311693BF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250AF-FCC1-0BF7-00C3-297C32A95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051EA-F615-48AB-A88F-253F636A925B}" type="datetime1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BBA30A-C19B-68FF-71ED-02EC10E10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459B98-CE3B-667A-DC82-77A7B115F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084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7A6BFD-F16F-4D0D-C97B-DCC2986D8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8F15E-7167-4644-952E-724E111E9FC7}" type="datetime1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60DD8A-A103-6E11-E734-611DB8DE1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E0659-943E-5736-0A6B-506E54F4C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377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624F0-A454-B75F-C958-6C5CFBB8C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70E2C-B4E1-F457-2E93-A3278E154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92527-CCB7-9CA0-6EA7-8543909DD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93032-2911-0FE6-54A4-0B48473E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3FA6E-8E41-447F-B088-81118AEA3919}" type="datetime1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B2E84-95C6-DFA6-1CCF-9FD6FFC17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511489-F098-505B-52D4-8CAEE99F8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5190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2F205-EFBA-5E35-DB82-2A03E11FB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398027-B508-B99B-8EB3-0074C42977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3FC8A-B897-FD51-7E2C-D9ACE481D8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69DEB4-21AE-BA63-FA40-B31EEB791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EA8E6-6536-4C40-9356-FA803EB43924}" type="datetime1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3AB5C-FD75-FF5A-5338-0EFDBE349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905265-1BA2-B0A6-F044-7FE00529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929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E9634-5D5A-CAFC-9A88-68F1863B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82B77-79E1-A59F-0069-765F698100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0588C-B5D0-4F4C-0A79-51A1DF4D2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10F18-5677-4F98-88EC-2F7A4A9FBD9B}" type="datetime1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01541-F635-45D1-43AA-8D97ECB81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9016A-E6E1-EBE4-71A8-9C58A5DFD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05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F9EDD2-87DE-021C-E483-43D1F2C238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6772C3-3A55-212E-716F-B8721EB229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90F97-D0F3-63B3-33AF-4D223EE76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6FB25-4866-47FE-8CBB-763E94CFAD38}" type="datetime1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9C65C-3F78-BE11-CF6E-A94CC994D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FFCC3-4776-C7D9-5A66-CC4B6CA6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318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64109D-0735-F6BE-890B-46B208D67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78BE0E-52CE-7F89-7F18-D5E92AEE38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1EC4F-C71F-990E-21DF-6860792D12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397E4-75B5-4CBF-83CF-D1AE586DD107}" type="datetime1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EA7AC-C3E3-780F-8FFF-E36E551C06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823B55-701B-C24D-8EB8-E56FB26B35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59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piesa.ro/?gad_source=1&amp;gad_campaignid=137574300&amp;gclid=EAIaIQobChMIxdD7hc_dkAMV4YWDBx1iiR4sEAAYAiAAEgJPCPD_BwE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emini.google.com/app?hl=de" TargetMode="External"/><Relationship Id="rId5" Type="http://schemas.openxmlformats.org/officeDocument/2006/relationships/hyperlink" Target="https://www.autovit.ro/blog/ce-trebuie-sa-ai-in-masina-kitul-de-siguranta-auto-si-echipamentele-obligatorii/" TargetMode="External"/><Relationship Id="rId4" Type="http://schemas.openxmlformats.org/officeDocument/2006/relationships/hyperlink" Target="https://cursdeguvernare.ro/harta-acea-213-unitati-productie-auto-romania-ue.html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547740" y="6138913"/>
            <a:ext cx="2743200" cy="365125"/>
          </a:xfrm>
        </p:spPr>
        <p:txBody>
          <a:bodyPr/>
          <a:lstStyle/>
          <a:p>
            <a:fld id="{776431DF-45DF-4C16-8413-175BAA1AFDEC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AFCCFF-9743-2609-287A-6B31269F2D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84507" y="1214438"/>
            <a:ext cx="6845493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Proiect</a:t>
            </a:r>
            <a:r>
              <a:rPr lang="en-US" sz="4800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 la </a:t>
            </a:r>
            <a:r>
              <a:rPr lang="en-US" sz="4800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Reţele</a:t>
            </a:r>
            <a:r>
              <a:rPr lang="en-US" sz="4800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 </a:t>
            </a:r>
            <a:r>
              <a:rPr lang="en-US" sz="4800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Neuronale</a:t>
            </a:r>
            <a:r>
              <a:rPr lang="en-US" sz="4800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/>
            </a:r>
            <a:br>
              <a:rPr lang="en-US" sz="4800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</a:br>
            <a:r>
              <a:rPr lang="en-US" sz="4800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Identificarea</a:t>
            </a:r>
            <a:r>
              <a:rPr lang="en-US" sz="4800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 </a:t>
            </a:r>
            <a:r>
              <a:rPr lang="en-US" sz="4800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defecţiunilor</a:t>
            </a:r>
            <a:r>
              <a:rPr lang="en-US" sz="4800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 </a:t>
            </a:r>
            <a:r>
              <a:rPr lang="en-US" sz="4800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pieselor</a:t>
            </a:r>
            <a:r>
              <a:rPr lang="en-US" sz="4800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 auto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A99319-A8E9-0C39-5E5C-4E2F1B3392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4507" y="3988596"/>
            <a:ext cx="8358982" cy="165576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Toth David-Andrei</a:t>
            </a:r>
          </a:p>
          <a:p>
            <a:pPr algn="l"/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 Light" panose="020F0302020204030204" pitchFamily="34" charset="0"/>
              </a:rPr>
              <a:t>UPB FIIR SIA 633 AB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  <a:cs typeface="Calibri Light" panose="020F0302020204030204" pitchFamily="34" charset="0"/>
            </a:endParaRPr>
          </a:p>
          <a:p>
            <a:pPr algn="l"/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04038"/>
            <a:ext cx="12192000" cy="353961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60" y="709799"/>
            <a:ext cx="1007170" cy="1009277"/>
          </a:xfrm>
          <a:prstGeom prst="rect">
            <a:avLst/>
          </a:prstGeom>
        </p:spPr>
      </p:pic>
      <p:pic>
        <p:nvPicPr>
          <p:cNvPr id="38" name="Picture 3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060" y="2428876"/>
            <a:ext cx="1138312" cy="1138312"/>
          </a:xfrm>
          <a:prstGeom prst="rect">
            <a:avLst/>
          </a:prstGeom>
        </p:spPr>
      </p:pic>
      <p:pic>
        <p:nvPicPr>
          <p:cNvPr id="39" name="Picture 38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1403" y="2809914"/>
            <a:ext cx="467937" cy="792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7060" y="1783823"/>
            <a:ext cx="1754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This PC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7060" y="3678621"/>
            <a:ext cx="2353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RN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904890" y="6138912"/>
            <a:ext cx="2743200" cy="365125"/>
          </a:xfrm>
        </p:spPr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063" y="4289192"/>
            <a:ext cx="1173163" cy="11731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060" y="5462355"/>
            <a:ext cx="2837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Recycle Bin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04283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EB1BA-2C70-4C47-E632-D59731A4C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06"/>
            <a:ext cx="10515600" cy="1325563"/>
          </a:xfrm>
        </p:spPr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Cuprins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A4136-7065-B60A-A560-76EE53DCA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2659"/>
            <a:ext cx="10515600" cy="4866869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Obiectivul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aplicaţiei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Modalitatea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realizare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proiectului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Structura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aplicaţiei-Elementele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folosite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in VI 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Funcţionarea</a:t>
            </a: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Funcţionalită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ţi</a:t>
            </a: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Descrierea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setului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date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utilizat</a:t>
            </a: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Instruire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Validare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Testare</a:t>
            </a: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Parametri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utilizati</a:t>
            </a: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Limitări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Slăbiciuni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Vulnerabilități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Concluzii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finale</a:t>
            </a:r>
          </a:p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Bibliografie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endParaRPr lang="en-US" dirty="0">
              <a:latin typeface="Impact" panose="020B0806030902050204" pitchFamily="34" charset="0"/>
            </a:endParaRPr>
          </a:p>
          <a:p>
            <a:endParaRPr lang="en-US" dirty="0">
              <a:latin typeface="Impact" panose="020B0806030902050204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6247B-A54E-4DA3-B1C5-B89FA9CAC96D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42607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58FA12-8028-0458-AC07-C72AA91A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Obiectivul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aplicaţiei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627F1-1C53-7C77-D4F0-4807AFBFA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Obiectivul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facilita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identificarea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auto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folosite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fabricarea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tuturor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autovehiculelor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reprezintă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Din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punct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vedere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al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activită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care pot fi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îmbunătă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cu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ajutorul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putem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include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fabricarea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utilajelor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grele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ingineria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precizie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repararea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automobilelor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echipamentelor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ultimul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rând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fabricarea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intră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alcătuirea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inilor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Printre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principalele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avantaje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ale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numară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asigurarea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bunei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ionări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autoturismelor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atât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siguran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oferilor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cât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persoanelor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nu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participă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trafic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numeroase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functii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asigură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un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rezultat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precis. 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E287F-791F-40F7-8B66-CCDE4C9ED6E0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3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66542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73FC26-C575-6D6C-EF2B-982D6C34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Modalitatea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realizare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persoanele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pot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/>
            </a:r>
            <a:b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</a:b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63D80-B20D-45B6-2BBC-375B90705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Această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care se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ocupa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verificarea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echipamentelor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autoturismelor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fost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realizată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LabView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deoarece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soft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permite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dezvoltatorilor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acceseze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numeroase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ajută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</a:t>
            </a:r>
          </a:p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Printre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poten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ialii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utilizatori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ai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viitor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numără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dezvoltatorii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iei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asigura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acesteia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persoanele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autorizate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lucrează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fabricile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asemenea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persoanele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calificate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lucrează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service-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uri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10D66D-BAA0-419C-A88A-FF9D53070BA5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</a:rPr>
              <a:t>4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639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iei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respectat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un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proces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conform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metodei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SIA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</a:p>
          <a:p>
            <a:pPr marL="0" indent="0" algn="just">
              <a:buNone/>
            </a:pP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Etapa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1: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Obtinerea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datelor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realizarea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setului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 date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(56%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44% generate);</a:t>
            </a:r>
          </a:p>
          <a:p>
            <a:pPr marL="0" indent="0" algn="just">
              <a:buNone/>
            </a:pP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Etapa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2: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Realizarea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VI-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: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Crearea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iei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LabView</a:t>
            </a: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Etapa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3: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Integrarea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State Machine: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arhitecturii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software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gestiona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stările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procesare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stocare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;</a:t>
            </a: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Etapa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4: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Optimizarea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Validarea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imbunătă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acurate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ndeplini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condi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cel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pu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70%.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5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33725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20723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BFB39B-DBB6-1B7B-7922-F7480F78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Structura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aplicaţiei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14E3D-A418-856E-77EA-F3133B19B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propriu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zisă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fost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realizată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ajutorul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unui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 principal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cu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utilizarea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altui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sub-VI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dată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intrare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fost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inclus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un File Path Control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adăuga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calea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urmează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verficată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S-au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folosit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structuri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precum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bucla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for,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bucla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while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se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află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tot VI-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iei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structura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decizională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case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compusă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din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cazul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“True”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“False”. </a:t>
            </a:r>
          </a:p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Din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punct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vedere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al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iilor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necesare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ionării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sistemului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s-au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folosit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din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pachetul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IMAQ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procesează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imaginile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0F511-B5C0-40F9-B0F2-C8CA917852A0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26382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9557FD-592D-0374-033B-E6ADEFA8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48466"/>
            <a:ext cx="105156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 smtClean="0"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 date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ie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sunt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incluse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următoarele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componente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Image Display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afi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ează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piesei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piesei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fără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dacă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bună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un string indicator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transmite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mesajul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“Componenta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bună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”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dacă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nu au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fost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detectate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iar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caz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contrar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apare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mesajul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“Componenta are 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”.  </a:t>
            </a:r>
          </a:p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DB072-19F1-40C3-8BAD-0AFCB82EC971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7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18942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Aplicatia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din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LabView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-Front Panel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7899B-FB8F-45AA-818E-DB3562CB6A53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8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15772" y="1825625"/>
            <a:ext cx="896045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464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Aplicatia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din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LabView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-Block Diagram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087F-98BE-4F8C-B3C0-2DB1728F248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9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83101" y="1825625"/>
            <a:ext cx="722579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144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Sub-VI Front Panel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087F-98BE-4F8C-B3C0-2DB1728F248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10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43807" y="1825625"/>
            <a:ext cx="690438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577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Sub VI Block Diagram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087F-98BE-4F8C-B3C0-2DB1728F248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11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16280" y="1825625"/>
            <a:ext cx="835944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029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86A267-1930-91D8-4D7B-3D47532C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Funcţionarea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9413B-5505-5386-06DA-8EBF28F76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1. </a:t>
            </a:r>
            <a:r>
              <a:rPr lang="en-US" b="1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Faza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de </a:t>
            </a:r>
            <a:r>
              <a:rPr lang="en-US" b="1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Inițializare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și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Achiziție</a:t>
            </a:r>
            <a:endParaRPr lang="en-US" b="1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just"/>
            <a:r>
              <a:rPr lang="en-US" b="1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Crearea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Referinței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: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Aplicația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începe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utilizarea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nodului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IMAQ Create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rezerva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spațiu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memoria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RAM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imaginea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care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urmează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fie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procesată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.</a:t>
            </a:r>
          </a:p>
          <a:p>
            <a:pPr algn="just"/>
            <a:r>
              <a:rPr lang="en-US" b="1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Citirea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Imaginii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: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IMAQ Read File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sistemul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încarcă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imaginea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piesei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laptop </a:t>
            </a:r>
            <a:r>
              <a:rPr lang="en-US" dirty="0" err="1" smtClean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memoria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creată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anterior.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Aceasta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este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imaginea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originală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RGB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care o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vedem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indicatorul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„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Imaginea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finala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”.</a:t>
            </a: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D1AA5-AACD-461F-A003-A3C384D89B00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12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675732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94"/>
            <a:ext cx="12193057" cy="6858594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62152"/>
            <a:ext cx="10515600" cy="5514811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Procesarea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Imaginii</a:t>
            </a:r>
            <a:r>
              <a:rPr lang="en-US" dirty="0" smtClean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Nodul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IMAQ Color Threshold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transformă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imaginea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color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într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-o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mască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binară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alb-negru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).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Pixelii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care se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încadrează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intervalul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tău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(ex.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nuanțele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deschise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ale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zgârieturilor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)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devin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albi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iar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restul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piesei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devine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negru.Filtrarea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Zgomotului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Deoarece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metalul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poate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avea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reflexii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par a fi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defecte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, se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folosește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IMAQ Morphology (cu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operația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Remove Small Objects).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Aceasta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șterge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punctele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albe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foarte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mici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care nu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sunt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zgârieturi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reale</a:t>
            </a:r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/>
              <a:t>2/10/2026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12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94"/>
            <a:ext cx="12193057" cy="6858594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30621"/>
            <a:ext cx="10515600" cy="5546342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3.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Analiza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Deciziei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(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Inferența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)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Măsurarea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Particulelor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Nodul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IMAQ Particle Analysis Report (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Filter)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scanează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binară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curățată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calculează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aria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fiecărui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obiect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alb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Dacă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găsesc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particule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string indicator-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afi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ș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mesajul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“Componenta are 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.”.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caz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contrar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apărea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mesajul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“Componenta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bună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.”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14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45771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94"/>
            <a:ext cx="12193057" cy="6858594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30621"/>
            <a:ext cx="10515600" cy="5546342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4.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Eviden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ţierea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defectului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Dacă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For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Loop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trece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prin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fiecare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coordonată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particulelor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găsite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utilizează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IMAQ Overlay Oval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desena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un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cerc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roșu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jurul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zgârieturii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  <a:b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</a:b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Salvarea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ajunge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structura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Case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unde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avem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IMAQ Merge Overlay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fixează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cercuri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imagine,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iar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IMAQ Write File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salvează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rezultatul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final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laptop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folderul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„processed” care face parte din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15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4799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94"/>
            <a:ext cx="12193057" cy="6858594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30621"/>
            <a:ext cx="10515600" cy="5546342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5.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Interfața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Utilizator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(UI)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Utilizatorul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alege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calea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fișierului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procesat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ajutorul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controlului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File Path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vede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Image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Display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cu tot cu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numărul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apare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String Indicator. 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3997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94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cionalită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următoarele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funcționalități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cheie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utilizând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mediul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LabVIEW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toolkit-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Vision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Development:selectarea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Izolarea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zgârieturilor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suprafața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metalică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folosind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tehnici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Color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Thresholding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spațiul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culoare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HSL,analiza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caracteristicilor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geometrice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ale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piesei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decide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dacă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conformă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neconformă.Sistem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Alertă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Vizuală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Trasabilitate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Generarea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unui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overlay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grafic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zona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defectului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salvarea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pozei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in folder-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selectat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către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utilizator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17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4336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86A267-1930-91D8-4D7B-3D47532C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Setul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date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9413B-5505-5386-06DA-8EBF28F76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sistem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inteligen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artificială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lucrează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reprezintă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auto.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Imaginile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alese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Google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sunt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procentaj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56 %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iar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imaginile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realizate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mine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reprezintă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un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procentaj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44%.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D1AA5-AACD-461F-A003-A3C384D89B00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18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2665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Procesul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Instruire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Validare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Testare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cadrul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procesul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"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învățare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"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constat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calibrarea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segmentării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distinge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între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conformă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</a:p>
          <a:p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Instruire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b="1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S-a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realizat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prin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imaginilor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S-au extras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caracteristicile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(Aria,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Luminozitatea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)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s-au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stabilit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pragurile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HSL care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definesc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un „defect”.</a:t>
            </a:r>
          </a:p>
          <a:p>
            <a:r>
              <a:rPr lang="en-US" b="1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Validare</a:t>
            </a:r>
            <a:r>
              <a:rPr lang="en-US" b="1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S-au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ajustat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parametrii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(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precum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pragul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minim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arie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elementul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structurare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morfologică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)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reduce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alarmele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false.</a:t>
            </a:r>
          </a:p>
          <a:p>
            <a:r>
              <a:rPr lang="en-US" b="1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Testare</a:t>
            </a:r>
            <a:r>
              <a:rPr lang="en-US" b="1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Evaluarea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finală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imagini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19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1826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Grafice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antrenare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20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8925" y="1762125"/>
            <a:ext cx="6534150" cy="33337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831" y="5171090"/>
            <a:ext cx="103763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Optimizarea</a:t>
            </a:r>
            <a:r>
              <a:rPr lang="en-US" sz="2800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sz="2800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acurate</a:t>
            </a:r>
            <a:r>
              <a:rPr lang="en-US" sz="2800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ţei</a:t>
            </a:r>
            <a:r>
              <a:rPr lang="en-US" sz="2800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. La final s-a </a:t>
            </a:r>
            <a:r>
              <a:rPr lang="en-US" sz="2800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îndeplinit</a:t>
            </a:r>
            <a:r>
              <a:rPr lang="en-US" sz="2800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</a:t>
            </a:r>
            <a:r>
              <a:rPr lang="en-US" sz="2800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condiţia</a:t>
            </a:r>
            <a:r>
              <a:rPr lang="en-US" sz="2800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de </a:t>
            </a:r>
            <a:r>
              <a:rPr lang="en-US" sz="2800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acurateţe</a:t>
            </a:r>
            <a:r>
              <a:rPr lang="en-US" sz="2800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care </a:t>
            </a:r>
            <a:r>
              <a:rPr lang="en-US" sz="2800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trebuie</a:t>
            </a:r>
            <a:r>
              <a:rPr lang="en-US" sz="2800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</a:t>
            </a:r>
            <a:r>
              <a:rPr lang="en-US" sz="2800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sa</a:t>
            </a:r>
            <a:r>
              <a:rPr lang="en-US" sz="2800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fie de minim 70%.</a:t>
            </a:r>
            <a:endParaRPr lang="en-US" sz="2800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489257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Parametrii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Analizați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Vision Development Module nu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definim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neuroni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clasici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parametrii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echivalenți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influențează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performanța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rețelei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sunt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</a:p>
          <a:p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Pragul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Luminozitate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(Luminance Threshold):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determină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sensibilitatea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detectării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</a:p>
          <a:p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Dimensiunea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Elementului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Structurare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(Morphology):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Acționează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 un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filtru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regularizare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elimina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zgomotul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(overfitting-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detalii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nesemnificative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).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21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25554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Analiza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variantelor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instruire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	S-au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testat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multe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variante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o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detectare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cat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precisa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controlarea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intensitatii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elementelor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spatiului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RGB, s-au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stabilit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o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serie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valori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minime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maxime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o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determinare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cat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corecta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Valorile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mari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min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max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oferi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un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mesaj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fals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transmite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buna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valorile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mici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putea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considera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cel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mic pixel un defect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deci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cel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bun set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valori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min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max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spatial RGB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fi:min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=80, max=150 la Red or Hue Range ;min=60,max=210 la Green or Sat Range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min=90,max=250 la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blue or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luma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or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val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or intern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range,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porturi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fac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parte din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ţia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IMAQ Color Threshold.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22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432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Limitări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Slăbiciuni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Vulnerabilități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Iluminarea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Aplicația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vulnerabilă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la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schimbări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bruște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lumină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lumină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puternică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deruta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senzorul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anulând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efectul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Threshold-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</a:p>
          <a:p>
            <a:pPr algn="just"/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Poziționarea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Dacă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nu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centrată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marginile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pot fi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confundate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cu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6CCF9-284F-4C59-8C9E-9C89E27EF454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23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0428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EA4039-6590-D01F-8C42-5757EC929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Conclzii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finale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5A981-F1B3-5BCE-078F-F32DBD2E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/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Proiectul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demonstrat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o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acuratețe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peste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b="1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70%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condiții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iluminare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controlată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</a:p>
          <a:p>
            <a:pPr algn="just"/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Funcționalități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cheie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Identificarea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timp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real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zgârieturilor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marcarea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automată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zonei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afectate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(Overlay)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salvarea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datelor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</a:p>
          <a:p>
            <a:pPr algn="just"/>
            <a:r>
              <a:rPr lang="en-US" b="1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Limitări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Sistemul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sensibil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la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unghiul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incidență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al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luminii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suprafețe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curbate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reflexiile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pot fi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interpretate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eronat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necesitând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o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mascare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riguroasă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E145-3A0C-4591-B3B3-56AD4DB313DE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24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85954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EA4039-6590-D01F-8C42-5757EC929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Conclzii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finale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5A981-F1B3-5BCE-078F-F32DBD2E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evolua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la un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algoritm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procesare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imagine la un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sistem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IA complex,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direcțiile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viitoare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includ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</a:p>
          <a:p>
            <a:pPr algn="just"/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Implementarea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CNN (Deep Learning):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Trecerea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la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praguri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manuale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(Min/Max) la o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rețea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neuronală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convoluțională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învețe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singură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texturile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defecte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</a:p>
          <a:p>
            <a:pPr algn="just"/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Inspecție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3D: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Utilizarea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scanării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laser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măsura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adâncimea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zgârieturii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nu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doar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aria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decide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dacă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piesa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mai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șlefuită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trebuie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casată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E145-3A0C-4591-B3B3-56AD4DB313DE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25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17249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EA4039-6590-D01F-8C42-5757EC929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Conclzii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finale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5A981-F1B3-5BCE-078F-F32DBD2E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Integrarea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într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-o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linie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asamblare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reală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presupune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</a:p>
          <a:p>
            <a:pPr algn="just"/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Viteza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procesare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Sincronizarea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timpului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expunere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al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camerei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cu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viteza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benzii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transportoare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algn="just"/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Mediul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industrial: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Protejarea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camerei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împotriva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prafului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vibrațiilor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care pot produce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imagini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mișcate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E145-3A0C-4591-B3B3-56AD4DB313DE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67405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EA4039-6590-D01F-8C42-5757EC929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Conclzii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finale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5A981-F1B3-5BCE-078F-F32DBD2E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Sistemul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înalt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scalabil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Arhitectura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tip State Machine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dezvoltată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LabVIEW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permite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adăugarea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noi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zone 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 control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care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raporteze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către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același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server central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prin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Web Services. </a:t>
            </a: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E145-3A0C-4591-B3B3-56AD4DB313DE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27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78527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EA4039-6590-D01F-8C42-5757EC929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Conclzii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finale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5A981-F1B3-5BCE-078F-F32DBD2E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Provocări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etice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b="1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securitate</a:t>
            </a:r>
            <a:endParaRPr lang="en-US" b="1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algn="just"/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Securitate: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Deoarece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datele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sunt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salvate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în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format 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.jpg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și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accesibile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prin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Web Services,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este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critică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implementarea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unui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protocol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criptare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preveni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prelucrarea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ilegală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a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datelor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</a:p>
          <a:p>
            <a:pPr algn="just"/>
            <a:r>
              <a:rPr lang="en-US" b="1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Etică</a:t>
            </a:r>
            <a:r>
              <a:rPr lang="en-US" b="1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: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Automatizarea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controlului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calității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reduce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nevoia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personal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uman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pentru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inspecție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vizuală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ridicând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necesitatea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recalificării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personalului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către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mentenanța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sistemului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E145-3A0C-4591-B3B3-56AD4DB313DE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28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8741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EA4039-6590-D01F-8C42-5757EC929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Conclzii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finale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5A981-F1B3-5BCE-078F-F32DBD2E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Aceasta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viitoare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aplicatie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indeplineste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un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rol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foarte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important in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siguranta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oamenilor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fie ca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sunt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soferi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fie ca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sunt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doar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pietoni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deoarece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datorita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complexitatii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functiilor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eficientei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acestora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,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poate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fi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asigurata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diminuarea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accidentelor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rutiere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salvarea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de </a:t>
            </a:r>
            <a:r>
              <a:rPr lang="en-US" dirty="0" err="1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vieti</a:t>
            </a: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.</a:t>
            </a: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endParaRPr lang="en-US" dirty="0" smtClean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 algn="just">
              <a:buNone/>
            </a:pPr>
            <a:r>
              <a:rPr lang="en-US" dirty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	</a:t>
            </a:r>
          </a:p>
          <a:p>
            <a:pPr marL="0" indent="0" algn="just">
              <a:buNone/>
            </a:pP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E145-3A0C-4591-B3B3-56AD4DB313DE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29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80125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70BFBF-9B00-D2CA-07CE-12CA0523F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Bibliografie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95182-D6DF-E6B3-153B-0EBE8556E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Courier New" panose="02070309020205020404" pitchFamily="49" charset="0"/>
              <a:buChar char="o"/>
            </a:pP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hlinkClick r:id="rId3"/>
              </a:rPr>
              <a:t>https://</a:t>
            </a:r>
            <a:r>
              <a:rPr lang="en-US" dirty="0" smtClean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hlinkClick r:id="rId3"/>
              </a:rPr>
              <a:t>curs.upb.ro/2025/course/view.php?id=1338-Cursuri RN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 smtClean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hlinkClick r:id="rId3"/>
              </a:rPr>
              <a:t>https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hlinkClick r:id="rId3"/>
              </a:rPr>
              <a:t>://www.epiesa.ro/?gad_source=1&amp;gad_campaignid=137574300&amp;gclid=EAIaIQobChMIxdD7hc_dkAMV4YWDBx1iiR4sEAAYAiAAEgJPCPD_BwE</a:t>
            </a:r>
            <a:endParaRPr 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hlinkClick r:id="rId4"/>
              </a:rPr>
              <a:t>https://cursdeguvernare.ro/harta-acea-213-unitati-productie-auto-romania-ue.html</a:t>
            </a:r>
            <a:endParaRPr 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hlinkClick r:id="rId5"/>
              </a:rPr>
              <a:t>https://www.autovit.ro/blog/ce-trebuie-sa-ai-in-masina-kitul-de-siguranta-auto-si-echipamentele-obligatorii</a:t>
            </a:r>
            <a:r>
              <a:rPr lang="en-US" dirty="0" smtClean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hlinkClick r:id="rId5"/>
              </a:rPr>
              <a:t>/</a:t>
            </a:r>
            <a:endParaRPr lang="en-US" dirty="0" smtClean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hlinkClick r:id="rId6"/>
              </a:rPr>
              <a:t>https://</a:t>
            </a:r>
            <a:r>
              <a:rPr lang="en-US" dirty="0" smtClean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hlinkClick r:id="rId6"/>
              </a:rPr>
              <a:t>gemini.google.com/app?hl=de</a:t>
            </a:r>
            <a:r>
              <a:rPr lang="en-US" dirty="0" smtClean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endParaRPr 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A1AFE-8251-422E-8139-789904C28011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30</a:t>
            </a:fld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00323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9" y="-297"/>
            <a:ext cx="12193057" cy="68585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/>
          <a:lstStyle/>
          <a:p>
            <a:pPr algn="ctr"/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Vă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mul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ţumesc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pentru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atenţie</a:t>
            </a:r>
            <a:r>
              <a:rPr lang="en-US" dirty="0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  <a:cs typeface="Calibri" panose="020F0502020204030204" pitchFamily="34" charset="0"/>
              </a:rPr>
              <a:t>!</a:t>
            </a:r>
            <a:endParaRPr lang="en-US" dirty="0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051EA-F615-48AB-A88F-253F636A925B}" type="datetime1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2/10/2026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>
                <a:solidFill>
                  <a:schemeClr val="bg1"/>
                </a:solidFill>
                <a:latin typeface="Yu Gothic Light" panose="020B0300000000000000" pitchFamily="34" charset="-128"/>
                <a:ea typeface="Yu Gothic Light" panose="020B0300000000000000" pitchFamily="34" charset="-128"/>
              </a:rPr>
              <a:t>31</a:t>
            </a:fld>
            <a:endParaRPr lang="en-US">
              <a:solidFill>
                <a:schemeClr val="bg1"/>
              </a:solidFill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54138">
            <a:off x="1097812" y="957806"/>
            <a:ext cx="2047025" cy="153526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03301">
            <a:off x="8610600" y="4212926"/>
            <a:ext cx="2143424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348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</TotalTime>
  <Words>822</Words>
  <Application>Microsoft Office PowerPoint</Application>
  <PresentationFormat>Widescreen</PresentationFormat>
  <Paragraphs>191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1" baseType="lpstr">
      <vt:lpstr>Yu Gothic Light</vt:lpstr>
      <vt:lpstr>Yu Gothic UI Light</vt:lpstr>
      <vt:lpstr>Aptos</vt:lpstr>
      <vt:lpstr>Aptos Display</vt:lpstr>
      <vt:lpstr>Arial</vt:lpstr>
      <vt:lpstr>Calibri</vt:lpstr>
      <vt:lpstr>Calibri Light</vt:lpstr>
      <vt:lpstr>Courier New</vt:lpstr>
      <vt:lpstr>Impact</vt:lpstr>
      <vt:lpstr>Office Theme</vt:lpstr>
      <vt:lpstr>Proiect la Reţele Neuronale Identificarea defecţiunilor pieselor auto</vt:lpstr>
      <vt:lpstr>Cuprins</vt:lpstr>
      <vt:lpstr>Obiectivul aplicaţiei</vt:lpstr>
      <vt:lpstr> Modalitatea de realizare a proiectului și persoanele care îl pot utiliza </vt:lpstr>
      <vt:lpstr>Dezvoltarea aplicaţiei</vt:lpstr>
      <vt:lpstr>Structura aplicaţiei </vt:lpstr>
      <vt:lpstr>PowerPoint Presentation</vt:lpstr>
      <vt:lpstr>Aplicatia din LabView-Front Panel</vt:lpstr>
      <vt:lpstr>Aplicatia din LabView-Block Diagram</vt:lpstr>
      <vt:lpstr>Sub-VI Front Panel</vt:lpstr>
      <vt:lpstr>Sub VI Block Diagram</vt:lpstr>
      <vt:lpstr>Funcţionarea </vt:lpstr>
      <vt:lpstr>PowerPoint Presentation</vt:lpstr>
      <vt:lpstr>PowerPoint Presentation</vt:lpstr>
      <vt:lpstr>PowerPoint Presentation</vt:lpstr>
      <vt:lpstr>PowerPoint Presentation</vt:lpstr>
      <vt:lpstr>Funţcionalităţi</vt:lpstr>
      <vt:lpstr>Setul de date </vt:lpstr>
      <vt:lpstr>Procesul de Dezvoltare: Instruire, Validare și Testare</vt:lpstr>
      <vt:lpstr>Grafice de antrenare</vt:lpstr>
      <vt:lpstr>Parametrii Analizați</vt:lpstr>
      <vt:lpstr>Analiza variantelor de instruire</vt:lpstr>
      <vt:lpstr>Limitări, Slăbiciuni și Vulnerabilități</vt:lpstr>
      <vt:lpstr>Conclzii finale</vt:lpstr>
      <vt:lpstr>Conclzii finale</vt:lpstr>
      <vt:lpstr>Conclzii finale</vt:lpstr>
      <vt:lpstr>Conclzii finale</vt:lpstr>
      <vt:lpstr>Conclzii finale</vt:lpstr>
      <vt:lpstr>Conclzii finale</vt:lpstr>
      <vt:lpstr>Bibliografie</vt:lpstr>
      <vt:lpstr>Vă mulţumesc pentru atenţie!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Proiect la Reţele Neuronale Identificarea defecţiunilor pieselor auto</dc:title>
  <dc:creator>David-Andrei TOTH (144728)</dc:creator>
  <cp:lastModifiedBy>User</cp:lastModifiedBy>
  <cp:revision>261</cp:revision>
  <dcterms:created xsi:type="dcterms:W3CDTF">2025-11-06T12:29:07Z</dcterms:created>
  <dcterms:modified xsi:type="dcterms:W3CDTF">2026-02-10T16:41:43Z</dcterms:modified>
</cp:coreProperties>
</file>